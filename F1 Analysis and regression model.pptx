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256" r:id="rId2"/>
    <p:sldId id="257" r:id="rId3"/>
    <p:sldId id="258" r:id="rId4"/>
    <p:sldId id="267" r:id="rId5"/>
    <p:sldId id="261" r:id="rId6"/>
    <p:sldId id="262" r:id="rId7"/>
    <p:sldId id="269" r:id="rId8"/>
    <p:sldId id="263" r:id="rId9"/>
    <p:sldId id="273" r:id="rId10"/>
    <p:sldId id="265" r:id="rId11"/>
    <p:sldId id="275" r:id="rId12"/>
    <p:sldId id="264" r:id="rId13"/>
    <p:sldId id="266" r:id="rId14"/>
    <p:sldId id="268" r:id="rId15"/>
    <p:sldId id="274" r:id="rId16"/>
    <p:sldId id="270" r:id="rId17"/>
    <p:sldId id="276" r:id="rId18"/>
    <p:sldId id="271" r:id="rId19"/>
    <p:sldId id="272" r:id="rId20"/>
    <p:sldId id="277" r:id="rId21"/>
    <p:sldId id="278" r:id="rId22"/>
    <p:sldId id="279" r:id="rId23"/>
    <p:sldId id="280" r:id="rId24"/>
    <p:sldId id="281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hat areyou" initials="wa" lastIdx="2" clrIdx="0">
    <p:extLst>
      <p:ext uri="{19B8F6BF-5375-455C-9EA6-DF929625EA0E}">
        <p15:presenceInfo xmlns:p15="http://schemas.microsoft.com/office/powerpoint/2012/main" userId="0b0c7cc490647c4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20F251-76FA-42A6-B6BF-66B1C87BF2C3}" v="931" dt="2021-08-11T19:00:23.6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>
      <p:cViewPr varScale="1">
        <p:scale>
          <a:sx n="50" d="100"/>
          <a:sy n="50" d="100"/>
        </p:scale>
        <p:origin x="42" y="141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22" d="100"/>
          <a:sy n="122" d="100"/>
        </p:scale>
        <p:origin x="7638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5.6302062522304339E-2"/>
          <c:y val="2.0830050205463881E-2"/>
          <c:w val="0.89168135829995943"/>
          <c:h val="0.8552193394617027"/>
        </c:manualLayout>
      </c:layout>
      <c:scatterChart>
        <c:scatterStyle val="lineMarker"/>
        <c:varyColors val="0"/>
        <c:ser>
          <c:idx val="0"/>
          <c:order val="0"/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backward val="100"/>
            <c:dispRSqr val="0"/>
            <c:dispEq val="0"/>
          </c:trendline>
          <c:xVal>
            <c:numRef>
              <c:f>Sheet1!$A$2:$A$9</c:f>
              <c:numCache>
                <c:formatCode>General</c:formatCode>
                <c:ptCount val="8"/>
                <c:pt idx="0">
                  <c:v>50</c:v>
                </c:pt>
                <c:pt idx="1">
                  <c:v>70</c:v>
                </c:pt>
                <c:pt idx="2">
                  <c:v>45</c:v>
                </c:pt>
                <c:pt idx="3">
                  <c:v>80</c:v>
                </c:pt>
                <c:pt idx="4">
                  <c:v>88</c:v>
                </c:pt>
                <c:pt idx="5">
                  <c:v>74</c:v>
                </c:pt>
                <c:pt idx="6">
                  <c:v>47</c:v>
                </c:pt>
                <c:pt idx="7">
                  <c:v>65</c:v>
                </c:pt>
              </c:numCache>
            </c:numRef>
          </c:xVal>
          <c:yVal>
            <c:numRef>
              <c:f>Sheet1!$B$2:$B$9</c:f>
              <c:numCache>
                <c:formatCode>General</c:formatCode>
                <c:ptCount val="8"/>
                <c:pt idx="0">
                  <c:v>130</c:v>
                </c:pt>
                <c:pt idx="1">
                  <c:v>180</c:v>
                </c:pt>
                <c:pt idx="2">
                  <c:v>130</c:v>
                </c:pt>
                <c:pt idx="3">
                  <c:v>180</c:v>
                </c:pt>
                <c:pt idx="4">
                  <c:v>175</c:v>
                </c:pt>
                <c:pt idx="5">
                  <c:v>180</c:v>
                </c:pt>
                <c:pt idx="6">
                  <c:v>130</c:v>
                </c:pt>
                <c:pt idx="7">
                  <c:v>173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A172-475F-B554-2F4D60161A66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354801376"/>
        <c:axId val="354804288"/>
      </c:scatterChart>
      <c:valAx>
        <c:axId val="35480137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Weight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4804288"/>
        <c:crosses val="autoZero"/>
        <c:crossBetween val="midCat"/>
      </c:valAx>
      <c:valAx>
        <c:axId val="3548042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Height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480137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1-08-11T11:45:20.076" idx="2">
    <p:pos x="10" y="10"/>
    <p:text>abc</p:text>
    <p:extLst>
      <p:ext uri="{C676402C-5697-4E1C-873F-D02D1690AC5C}">
        <p15:threadingInfo xmlns:p15="http://schemas.microsoft.com/office/powerpoint/2012/main" timeZoneBias="42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EF2C2D-371D-4628-8598-B6F80255EF58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8AAC1B-0D79-4935-B569-BDC0A9079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519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8AAC1B-0D79-4935-B569-BDC0A907931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2592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Bottom 5 drivers are </a:t>
            </a:r>
            <a:r>
              <a:rPr lang="en-US" dirty="0" err="1"/>
              <a:t>elimited</a:t>
            </a:r>
            <a:r>
              <a:rPr lang="en-US" dirty="0"/>
              <a:t> every round in </a:t>
            </a:r>
            <a:r>
              <a:rPr lang="en-US" dirty="0" err="1"/>
              <a:t>quali</a:t>
            </a:r>
            <a:endParaRPr lang="en-US" dirty="0"/>
          </a:p>
          <a:p>
            <a:r>
              <a:rPr lang="en-US" dirty="0" err="1"/>
              <a:t>Quali</a:t>
            </a:r>
            <a:r>
              <a:rPr lang="en-US" dirty="0"/>
              <a:t> determines your starting position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8AAC1B-0D79-4935-B569-BDC0A907931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9239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8AAC1B-0D79-4935-B569-BDC0A907931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2941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8AAC1B-0D79-4935-B569-BDC0A907931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4281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Countplots</a:t>
            </a:r>
            <a:r>
              <a:rPr lang="en-US" dirty="0"/>
              <a:t>! Shows count of observations in each categorical bin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8AAC1B-0D79-4935-B569-BDC0A907931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2281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8AAC1B-0D79-4935-B569-BDC0A907931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7711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8AAC1B-0D79-4935-B569-BDC0A907931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2809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8AAC1B-0D79-4935-B569-BDC0A907931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5829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8AAC1B-0D79-4935-B569-BDC0A907931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81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8AAC1B-0D79-4935-B569-BDC0A907931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281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8AAC1B-0D79-4935-B569-BDC0A907931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576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8AAC1B-0D79-4935-B569-BDC0A907931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220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8AAC1B-0D79-4935-B569-BDC0A907931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6032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8AAC1B-0D79-4935-B569-BDC0A907931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3730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8AAC1B-0D79-4935-B569-BDC0A907931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8566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8AAC1B-0D79-4935-B569-BDC0A907931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3861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8AAC1B-0D79-4935-B569-BDC0A907931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4681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8AAC1B-0D79-4935-B569-BDC0A907931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0543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8AAC1B-0D79-4935-B569-BDC0A907931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1086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8AAC1B-0D79-4935-B569-BDC0A907931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4139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8AAC1B-0D79-4935-B569-BDC0A907931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4717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8AAC1B-0D79-4935-B569-BDC0A907931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52387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8AAC1B-0D79-4935-B569-BDC0A907931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9922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8AAC1B-0D79-4935-B569-BDC0A907931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140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01DA5-A5C9-48EB-871F-50C09E9ED742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0E963-53E2-422F-972D-506A97D4A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591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01DA5-A5C9-48EB-871F-50C09E9ED742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0E963-53E2-422F-972D-506A97D4A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624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01DA5-A5C9-48EB-871F-50C09E9ED742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0E963-53E2-422F-972D-506A97D4A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351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01DA5-A5C9-48EB-871F-50C09E9ED742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0E963-53E2-422F-972D-506A97D4A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677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01DA5-A5C9-48EB-871F-50C09E9ED742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0E963-53E2-422F-972D-506A97D4A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659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01DA5-A5C9-48EB-871F-50C09E9ED742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0E963-53E2-422F-972D-506A97D4A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122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01DA5-A5C9-48EB-871F-50C09E9ED742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0E963-53E2-422F-972D-506A97D4A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048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01DA5-A5C9-48EB-871F-50C09E9ED742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0E963-53E2-422F-972D-506A97D4A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281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01DA5-A5C9-48EB-871F-50C09E9ED742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0E963-53E2-422F-972D-506A97D4A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940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01DA5-A5C9-48EB-871F-50C09E9ED742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0E963-53E2-422F-972D-506A97D4A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523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01DA5-A5C9-48EB-871F-50C09E9ED742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0E963-53E2-422F-972D-506A97D4A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8749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01DA5-A5C9-48EB-871F-50C09E9ED742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0E963-53E2-422F-972D-506A97D4AEF6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981132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01DA5-A5C9-48EB-871F-50C09E9ED742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0E963-53E2-422F-972D-506A97D4A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0671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01DA5-A5C9-48EB-871F-50C09E9ED742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0E963-53E2-422F-972D-506A97D4A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5615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01DA5-A5C9-48EB-871F-50C09E9ED742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0E963-53E2-422F-972D-506A97D4A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8640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01DA5-A5C9-48EB-871F-50C09E9ED742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0E963-53E2-422F-972D-506A97D4A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4697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01DA5-A5C9-48EB-871F-50C09E9ED742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0E963-53E2-422F-972D-506A97D4A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410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2B301DA5-A5C9-48EB-871F-50C09E9ED742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60E963-53E2-422F-972D-506A97D4A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0152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1F45D-F874-4C33-B3AA-0A5105D115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F1 Analysis and regression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6AD1C6-9070-4848-97E0-6A8DE8C56B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</a:t>
            </a:r>
            <a:r>
              <a:rPr lang="en-US" dirty="0" err="1"/>
              <a:t>Junyu</a:t>
            </a:r>
            <a:r>
              <a:rPr lang="en-US" dirty="0"/>
              <a:t> Teoh</a:t>
            </a:r>
          </a:p>
        </p:txBody>
      </p:sp>
    </p:spTree>
    <p:extLst>
      <p:ext uri="{BB962C8B-B14F-4D97-AF65-F5344CB8AC3E}">
        <p14:creationId xmlns:p14="http://schemas.microsoft.com/office/powerpoint/2010/main" val="2247443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6C087-FB6C-4CC9-AEA7-F81B99922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A1F25-3D05-44C7-8A02-F667B50AA9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- What is Formula-1(F-1)?</a:t>
            </a:r>
          </a:p>
          <a:p>
            <a:pPr lvl="1"/>
            <a:r>
              <a:rPr lang="en-US" dirty="0"/>
              <a:t>Highest class of single-seater auto racing</a:t>
            </a:r>
          </a:p>
          <a:p>
            <a:pPr lvl="1"/>
            <a:r>
              <a:rPr lang="en-US" dirty="0"/>
              <a:t>10 teams (constructors) with 2 drivers each</a:t>
            </a:r>
          </a:p>
          <a:p>
            <a:pPr lvl="1"/>
            <a:r>
              <a:rPr lang="en-US" dirty="0"/>
              <a:t>Two 90 minute practice sessions </a:t>
            </a:r>
          </a:p>
          <a:p>
            <a:pPr lvl="1"/>
            <a:r>
              <a:rPr lang="en-US" dirty="0"/>
              <a:t>Three 18 minute elimination qualifying</a:t>
            </a:r>
          </a:p>
          <a:p>
            <a:pPr lvl="1"/>
            <a:r>
              <a:rPr lang="en-US" dirty="0"/>
              <a:t>Race!</a:t>
            </a:r>
          </a:p>
          <a:p>
            <a:r>
              <a:rPr lang="en-US" dirty="0"/>
              <a:t>- Why F1? </a:t>
            </a:r>
          </a:p>
          <a:p>
            <a:pPr lvl="1"/>
            <a:r>
              <a:rPr lang="en-US" dirty="0"/>
              <a:t>F1 is HUGE!</a:t>
            </a:r>
          </a:p>
          <a:p>
            <a:pPr lvl="1"/>
            <a:r>
              <a:rPr lang="en-US" dirty="0"/>
              <a:t>Personal interest </a:t>
            </a:r>
          </a:p>
        </p:txBody>
      </p:sp>
    </p:spTree>
    <p:extLst>
      <p:ext uri="{BB962C8B-B14F-4D97-AF65-F5344CB8AC3E}">
        <p14:creationId xmlns:p14="http://schemas.microsoft.com/office/powerpoint/2010/main" val="1327123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85D02-2440-430B-B451-447AA6DE5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Differences between F1 and other popular motorsports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82A08-8995-4E02-844F-8CFD74007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Nascar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Nascars</a:t>
            </a:r>
            <a:r>
              <a:rPr lang="en-US" dirty="0"/>
              <a:t> have more body panels that allow the drivers to bump into each other more often without significant damage</a:t>
            </a:r>
          </a:p>
          <a:p>
            <a:pPr lvl="1"/>
            <a:r>
              <a:rPr lang="en-US" dirty="0"/>
              <a:t>F1 cars are much more aerodynamic reliant than </a:t>
            </a:r>
            <a:r>
              <a:rPr lang="en-US" dirty="0" err="1"/>
              <a:t>Nascars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World Rally Championship (WRC)</a:t>
            </a:r>
          </a:p>
          <a:p>
            <a:pPr lvl="1"/>
            <a:r>
              <a:rPr lang="en-US" dirty="0"/>
              <a:t>WRC cars have to race on many different types of surfaces and weather </a:t>
            </a:r>
          </a:p>
          <a:p>
            <a:pPr lvl="1"/>
            <a:r>
              <a:rPr lang="en-US" dirty="0"/>
              <a:t>F1 cars only race on proper tracks or street circuits, and will pause or cancel the race due to bad weather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1965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EDA75-3A8A-4015-8EC6-7916F4B03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analysis &amp; Visualization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933D4B-3EFA-418E-BE5C-D4282127F2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9633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F9F5A-0A17-46D6-9A53-6D7906723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Starting position vs end position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80D6F0-EA64-4CE6-840B-4E78DFFD6D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47963" y="2145157"/>
            <a:ext cx="4396341" cy="4200245"/>
          </a:xfrm>
        </p:spPr>
        <p:txBody>
          <a:bodyPr/>
          <a:lstStyle/>
          <a:p>
            <a:r>
              <a:rPr lang="en-US" dirty="0"/>
              <a:t>Distribution of end position given a starting position</a:t>
            </a:r>
          </a:p>
          <a:p>
            <a:pPr lvl="1"/>
            <a:r>
              <a:rPr lang="en-US" dirty="0"/>
              <a:t>Highly recommended to start upfront </a:t>
            </a:r>
          </a:p>
          <a:p>
            <a:pPr lvl="1"/>
            <a:r>
              <a:rPr lang="en-US" dirty="0"/>
              <a:t> Drivers who start at a higher position (low value) get more wins</a:t>
            </a:r>
          </a:p>
        </p:txBody>
      </p:sp>
      <p:pic>
        <p:nvPicPr>
          <p:cNvPr id="8" name="Picture 7" descr="Chart, bar chart, histogram&#10;&#10;Description automatically generated">
            <a:extLst>
              <a:ext uri="{FF2B5EF4-FFF2-40B4-BE49-F238E27FC236}">
                <a16:creationId xmlns:a16="http://schemas.microsoft.com/office/drawing/2014/main" id="{E5D0A745-E39A-4E4D-998D-FCEBC30F52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5319" y="2264505"/>
            <a:ext cx="4455902" cy="2889114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6CFD72A-3F87-4817-95E3-44B8496ACB6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670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47FA6-956C-4828-B17E-9850D074F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 vs Wins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912DA5-A5D0-4E1B-9065-6554888300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42965" y="2079843"/>
            <a:ext cx="4396341" cy="4200245"/>
          </a:xfrm>
        </p:spPr>
        <p:txBody>
          <a:bodyPr/>
          <a:lstStyle/>
          <a:p>
            <a:r>
              <a:rPr lang="en-US" dirty="0"/>
              <a:t>Wins are concentrated at around age 29-31</a:t>
            </a:r>
          </a:p>
          <a:p>
            <a:r>
              <a:rPr lang="en-US" dirty="0"/>
              <a:t>However, it seems to taper off quickly</a:t>
            </a:r>
          </a:p>
          <a:p>
            <a:r>
              <a:rPr lang="en-US" dirty="0"/>
              <a:t>Suggests driver only has a limited window to perform at their peak</a:t>
            </a:r>
          </a:p>
          <a:p>
            <a:r>
              <a:rPr lang="en-US" dirty="0"/>
              <a:t>Suggests that teams should choose a younger driver and develop them </a:t>
            </a:r>
          </a:p>
        </p:txBody>
      </p:sp>
      <p:pic>
        <p:nvPicPr>
          <p:cNvPr id="10" name="Content Placeholder 9" descr="Chart, scatter chart&#10;&#10;Description automatically generated">
            <a:extLst>
              <a:ext uri="{FF2B5EF4-FFF2-40B4-BE49-F238E27FC236}">
                <a16:creationId xmlns:a16="http://schemas.microsoft.com/office/drawing/2014/main" id="{CC00B960-C6A9-4761-863A-22180721085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605" y="1767093"/>
            <a:ext cx="6392460" cy="2412872"/>
          </a:xfrm>
        </p:spPr>
      </p:pic>
      <p:pic>
        <p:nvPicPr>
          <p:cNvPr id="12" name="Picture 11" descr="Chart, bar chart, histogram&#10;&#10;Description automatically generated">
            <a:extLst>
              <a:ext uri="{FF2B5EF4-FFF2-40B4-BE49-F238E27FC236}">
                <a16:creationId xmlns:a16="http://schemas.microsoft.com/office/drawing/2014/main" id="{7884AC60-2D84-48F6-A497-AAD971FE5A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6793" y="4392863"/>
            <a:ext cx="3428656" cy="2202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668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C2883-93BD-42DE-AB6F-5E2A90972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Wins vs Teams</a:t>
            </a:r>
          </a:p>
        </p:txBody>
      </p:sp>
      <p:pic>
        <p:nvPicPr>
          <p:cNvPr id="6" name="Content Placeholder 5" descr="Chart, bar chart&#10;&#10;Description automatically generated">
            <a:extLst>
              <a:ext uri="{FF2B5EF4-FFF2-40B4-BE49-F238E27FC236}">
                <a16:creationId xmlns:a16="http://schemas.microsoft.com/office/drawing/2014/main" id="{CD260460-3EA1-46D4-B31C-4AFBE9FD412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238756" y="2710454"/>
            <a:ext cx="4124901" cy="2896004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D568A9-B6B9-4BC9-B190-01B0DE90930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Wins between 2014-2018 are largely by Mercedes, followed by Ferrari and Red Bull.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476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B49A3-2106-4715-9F64-765BDEC3D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 of accident on Track</a:t>
            </a:r>
          </a:p>
        </p:txBody>
      </p:sp>
      <p:pic>
        <p:nvPicPr>
          <p:cNvPr id="10" name="Content Placeholder 9" descr="Chart&#10;&#10;Description automatically generated">
            <a:extLst>
              <a:ext uri="{FF2B5EF4-FFF2-40B4-BE49-F238E27FC236}">
                <a16:creationId xmlns:a16="http://schemas.microsoft.com/office/drawing/2014/main" id="{6EA792C1-0CAA-421A-9114-CECA38A2816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11" y="1585569"/>
            <a:ext cx="4293606" cy="3842833"/>
          </a:xfrm>
        </p:spPr>
      </p:pic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06F7A2-1263-4F5F-AA30-563D2A737D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549786"/>
            <a:ext cx="4396341" cy="4200245"/>
          </a:xfrm>
        </p:spPr>
        <p:txBody>
          <a:bodyPr/>
          <a:lstStyle/>
          <a:p>
            <a:r>
              <a:rPr lang="en-US" dirty="0"/>
              <a:t>Street circuits such as Monaco and Baku top the charts at roughly 13.8% and 11.5% probability of an accident respectively.</a:t>
            </a:r>
          </a:p>
          <a:p>
            <a:r>
              <a:rPr lang="en-US" dirty="0"/>
              <a:t>Tracks designed with overtaking and spectator in mind like Sepang and Shanghai feature much smaller probability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347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E4982-8D99-4020-8330-3A8B9F67E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 of accident on Track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D7D2C-28DF-411F-AA44-980F5AAF54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594380" y="1798550"/>
            <a:ext cx="4396339" cy="4195763"/>
          </a:xfrm>
        </p:spPr>
        <p:txBody>
          <a:bodyPr/>
          <a:lstStyle/>
          <a:p>
            <a:r>
              <a:rPr lang="en-US" dirty="0"/>
              <a:t>Top: Sepang international Circuit, Malaysia. It’s roughly 20 meters at it’s widest and 16 meters at it’s narrowest.</a:t>
            </a:r>
          </a:p>
          <a:p>
            <a:r>
              <a:rPr lang="en-US" dirty="0"/>
              <a:t>Bottom: Monaco Street Circuit. Only about 12 meters at it’s widest.</a:t>
            </a:r>
          </a:p>
          <a:p>
            <a:endParaRPr lang="en-US" dirty="0"/>
          </a:p>
          <a:p>
            <a:r>
              <a:rPr lang="en-US" dirty="0"/>
              <a:t>Even at it’s narrowest point, Sepang is till wider than Monaco.</a:t>
            </a:r>
          </a:p>
        </p:txBody>
      </p:sp>
      <p:pic>
        <p:nvPicPr>
          <p:cNvPr id="6" name="Picture 6" descr="2017 Malaysian Grand Prix report - Motor Sport Magazine">
            <a:extLst>
              <a:ext uri="{FF2B5EF4-FFF2-40B4-BE49-F238E27FC236}">
                <a16:creationId xmlns:a16="http://schemas.microsoft.com/office/drawing/2014/main" id="{772F76B2-6818-4AB9-9403-512F126AF8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108" y="1331478"/>
            <a:ext cx="4241801" cy="265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What tyres will the teams and drivers have for the 2021 Monaco Grand Prix?  | Formula 1®">
            <a:extLst>
              <a:ext uri="{FF2B5EF4-FFF2-40B4-BE49-F238E27FC236}">
                <a16:creationId xmlns:a16="http://schemas.microsoft.com/office/drawing/2014/main" id="{7FBD2114-CF37-4394-8ABA-FAD667B99FB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108" y="4179237"/>
            <a:ext cx="4395788" cy="2472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17033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92D5F-4B18-4E71-B1ED-AE8E5E432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770033-FBC2-4CDD-8D75-CC87120587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2434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9E864-3B25-42DE-BBE3-0AD0EAC68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C1E781-24EB-4A03-BA1D-68E7502880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Multiple tables joined using Pandas</a:t>
            </a:r>
          </a:p>
          <a:p>
            <a:r>
              <a:rPr lang="en-US" dirty="0"/>
              <a:t>Null values replaced with 0</a:t>
            </a:r>
          </a:p>
          <a:p>
            <a:r>
              <a:rPr lang="en-US" dirty="0"/>
              <a:t>Unneeded columns were dropped to save memory</a:t>
            </a:r>
          </a:p>
          <a:p>
            <a:endParaRPr lang="en-US" dirty="0"/>
          </a:p>
        </p:txBody>
      </p:sp>
      <p:pic>
        <p:nvPicPr>
          <p:cNvPr id="7" name="Picture 6" descr="Table&#10;&#10;Description automatically generated">
            <a:extLst>
              <a:ext uri="{FF2B5EF4-FFF2-40B4-BE49-F238E27FC236}">
                <a16:creationId xmlns:a16="http://schemas.microsoft.com/office/drawing/2014/main" id="{B5CDCC26-6FAA-4FB4-891B-1E514434A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790" y="3429000"/>
            <a:ext cx="3105583" cy="325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605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7B9E4-29C2-4CB8-BB5A-22264E7D0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418FD-5153-47FE-A8DD-F4138A0D5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y-GB" dirty="0"/>
              <a:t>ŷ</a:t>
            </a:r>
            <a:r>
              <a:rPr lang="en-US" dirty="0"/>
              <a:t>= b0 + b1x1 + b2x2 + … + </a:t>
            </a:r>
            <a:r>
              <a:rPr lang="en-US" dirty="0" err="1"/>
              <a:t>bnxn</a:t>
            </a:r>
            <a:endParaRPr lang="en-US" dirty="0"/>
          </a:p>
          <a:p>
            <a:r>
              <a:rPr lang="en-US" dirty="0"/>
              <a:t>Only outputs continuous variables</a:t>
            </a:r>
          </a:p>
          <a:p>
            <a:r>
              <a:rPr lang="en-US" dirty="0"/>
              <a:t>Outputs might not make sense at extreme ends </a:t>
            </a:r>
          </a:p>
          <a:p>
            <a:endParaRPr lang="en-US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5EFCD194-E936-4B59-A821-043A879A7E9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56290625"/>
              </p:ext>
            </p:extLst>
          </p:nvPr>
        </p:nvGraphicFramePr>
        <p:xfrm>
          <a:off x="3473192" y="3429000"/>
          <a:ext cx="5245616" cy="32679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094659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7D933-E2CF-4C9F-90FF-56DED708F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67E01-CF10-424F-84DF-64AD14E786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Logistic regression models the probability of a certain class existing</a:t>
            </a:r>
          </a:p>
          <a:p>
            <a:r>
              <a:rPr lang="en-US" dirty="0"/>
              <a:t>Outputs binary values</a:t>
            </a:r>
          </a:p>
          <a:p>
            <a:r>
              <a:rPr lang="en-US" dirty="0"/>
              <a:t>Extreme input values will still produce output within [0,1]</a:t>
            </a:r>
          </a:p>
          <a:p>
            <a:endParaRPr lang="en-US" dirty="0"/>
          </a:p>
        </p:txBody>
      </p:sp>
      <p:pic>
        <p:nvPicPr>
          <p:cNvPr id="1028" name="Picture 4" descr="Logistic regression - Wikipedia">
            <a:extLst>
              <a:ext uri="{FF2B5EF4-FFF2-40B4-BE49-F238E27FC236}">
                <a16:creationId xmlns:a16="http://schemas.microsoft.com/office/drawing/2014/main" id="{70A40115-E22A-45C0-AEB7-174DF250C9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1582" y="3429000"/>
            <a:ext cx="3810000" cy="2762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0732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DA69F-844B-4E8A-B309-C19C34802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E1FE9-44FE-40B9-B307-1C66F8C74C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y-GB" dirty="0"/>
              <a:t>Ln(Y/(1-Y))</a:t>
            </a:r>
            <a:r>
              <a:rPr lang="en-US" dirty="0"/>
              <a:t> = b0 + b1[grid] + b2[rank] + b3[age] + b4[pole]+b5[</a:t>
            </a:r>
            <a:r>
              <a:rPr lang="en-US" dirty="0" err="1"/>
              <a:t>constructorRef</a:t>
            </a:r>
            <a:r>
              <a:rPr lang="en-US" dirty="0"/>
              <a:t>] + error</a:t>
            </a:r>
          </a:p>
          <a:p>
            <a:endParaRPr lang="en-US" dirty="0"/>
          </a:p>
          <a:p>
            <a:pPr marL="0" indent="0">
              <a:buNone/>
            </a:pPr>
            <a:r>
              <a:rPr lang="cy-GB" sz="1400" dirty="0"/>
              <a:t>Ln(Y/(1-Y)) </a:t>
            </a:r>
            <a:r>
              <a:rPr lang="en-US" sz="1400" dirty="0"/>
              <a:t>= Logarithmic probability of categorization (categorical)</a:t>
            </a:r>
          </a:p>
          <a:p>
            <a:pPr marL="0" indent="0">
              <a:buNone/>
            </a:pPr>
            <a:r>
              <a:rPr lang="en-US" sz="1400" dirty="0"/>
              <a:t>Grid = race start position (discrete numerical)</a:t>
            </a:r>
          </a:p>
          <a:p>
            <a:pPr marL="0" indent="0">
              <a:buNone/>
            </a:pPr>
            <a:r>
              <a:rPr lang="en-US" sz="1400" dirty="0"/>
              <a:t>Rank = Rank of the fastest lap (discrete numerical)</a:t>
            </a:r>
          </a:p>
          <a:p>
            <a:pPr marL="0" indent="0">
              <a:buNone/>
            </a:pPr>
            <a:r>
              <a:rPr lang="en-US" sz="1400" dirty="0"/>
              <a:t>Age = Age of driver during the race (discrete numerical)</a:t>
            </a:r>
          </a:p>
          <a:p>
            <a:pPr marL="0" indent="0">
              <a:buNone/>
            </a:pPr>
            <a:r>
              <a:rPr lang="en-US" sz="1400" dirty="0" err="1"/>
              <a:t>ConstructorRef</a:t>
            </a:r>
            <a:r>
              <a:rPr lang="en-US" sz="1400" dirty="0"/>
              <a:t> = Text representation of team name (categorical)</a:t>
            </a:r>
          </a:p>
          <a:p>
            <a:pPr marL="0" indent="0">
              <a:buNone/>
            </a:pPr>
            <a:r>
              <a:rPr lang="en-US" sz="1400" dirty="0"/>
              <a:t>Pole = If driver achieved pole position during qualifying (starting from 1</a:t>
            </a:r>
            <a:r>
              <a:rPr lang="en-US" sz="1400" baseline="30000" dirty="0"/>
              <a:t>st</a:t>
            </a:r>
            <a:r>
              <a:rPr lang="en-US" sz="1400" dirty="0"/>
              <a:t> place) (categorical)</a:t>
            </a:r>
          </a:p>
        </p:txBody>
      </p:sp>
    </p:spTree>
    <p:extLst>
      <p:ext uri="{BB962C8B-B14F-4D97-AF65-F5344CB8AC3E}">
        <p14:creationId xmlns:p14="http://schemas.microsoft.com/office/powerpoint/2010/main" val="182561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DA69F-844B-4E8A-B309-C19C34802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E1FE9-44FE-40B9-B307-1C66F8C74C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y-GB" dirty="0"/>
              <a:t>Ln(Y/(1-Y))</a:t>
            </a:r>
            <a:r>
              <a:rPr lang="en-US" dirty="0"/>
              <a:t> = b0 + b1[grid] + b2[rank] + b3[age] + b4[pole]+b5[</a:t>
            </a:r>
            <a:r>
              <a:rPr lang="en-US" dirty="0" err="1"/>
              <a:t>constructorRef</a:t>
            </a:r>
            <a:r>
              <a:rPr lang="en-US" dirty="0"/>
              <a:t>] + error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err="1"/>
              <a:t>constructorRef</a:t>
            </a:r>
            <a:r>
              <a:rPr lang="en-US" dirty="0"/>
              <a:t> </a:t>
            </a:r>
            <a:r>
              <a:rPr lang="en-US" dirty="0" err="1"/>
              <a:t>dummified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x1 = </a:t>
            </a:r>
            <a:r>
              <a:rPr lang="en-US" dirty="0" err="1"/>
              <a:t>haas</a:t>
            </a:r>
            <a:r>
              <a:rPr lang="en-US" dirty="0"/>
              <a:t>, x2 = </a:t>
            </a:r>
            <a:r>
              <a:rPr lang="en-US" dirty="0" err="1"/>
              <a:t>sauber</a:t>
            </a:r>
            <a:r>
              <a:rPr lang="en-US" dirty="0"/>
              <a:t>, x3 = Williams, x4 = </a:t>
            </a:r>
            <a:r>
              <a:rPr lang="en-US" dirty="0" err="1"/>
              <a:t>caterham</a:t>
            </a:r>
            <a:r>
              <a:rPr lang="en-US" dirty="0"/>
              <a:t>, x5 = Ferrari, x6 = lotus_f1, x7=</a:t>
            </a:r>
            <a:r>
              <a:rPr lang="en-US" dirty="0" err="1"/>
              <a:t>toro_rosso</a:t>
            </a:r>
            <a:r>
              <a:rPr lang="en-US" dirty="0"/>
              <a:t>, x8=Renault, x9= Mercedes, x10=</a:t>
            </a:r>
            <a:r>
              <a:rPr lang="en-US" dirty="0" err="1"/>
              <a:t>mclaren</a:t>
            </a:r>
            <a:r>
              <a:rPr lang="en-US" dirty="0"/>
              <a:t>, x11 = </a:t>
            </a:r>
            <a:r>
              <a:rPr lang="en-US" dirty="0" err="1"/>
              <a:t>force_india</a:t>
            </a:r>
            <a:r>
              <a:rPr lang="en-US" dirty="0"/>
              <a:t>, x12 = Marussia, x13 = </a:t>
            </a:r>
            <a:r>
              <a:rPr lang="en-US" dirty="0" err="1"/>
              <a:t>red_bull</a:t>
            </a:r>
            <a:r>
              <a:rPr lang="en-US" dirty="0"/>
              <a:t> or manor</a:t>
            </a:r>
          </a:p>
        </p:txBody>
      </p:sp>
    </p:spTree>
    <p:extLst>
      <p:ext uri="{BB962C8B-B14F-4D97-AF65-F5344CB8AC3E}">
        <p14:creationId xmlns:p14="http://schemas.microsoft.com/office/powerpoint/2010/main" val="3198046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9E246-DE00-4E97-A63B-610642FBA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evaluation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D313AEFD-F2C6-4F27-826E-F0DCEEAF41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007033"/>
              </p:ext>
            </p:extLst>
          </p:nvPr>
        </p:nvGraphicFramePr>
        <p:xfrm>
          <a:off x="905465" y="1985894"/>
          <a:ext cx="3403600" cy="13201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5200">
                  <a:extLst>
                    <a:ext uri="{9D8B030D-6E8A-4147-A177-3AD203B41FA5}">
                      <a16:colId xmlns:a16="http://schemas.microsoft.com/office/drawing/2014/main" val="140052078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19525825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82009726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31806887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332682893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Precision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Var(--jp-code-font-family)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recall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f1-score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support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6295039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0.87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0.99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0.93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1262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4511294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0.7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Var(--jp-code-font-family)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0.24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216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38209673"/>
                  </a:ext>
                </a:extLst>
              </a:tr>
              <a:tr h="168389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252068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Accuracy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0.87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1478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3832453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Macro avg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Var(--jp-code-font-family)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0.78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0.57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0.59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1478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416089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Weighted avg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Var(--jp-code-font-family)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0.85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0.87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0.83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1478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1414869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63D76C4-15A2-43BE-9B33-F3577C4481C3}"/>
              </a:ext>
            </a:extLst>
          </p:cNvPr>
          <p:cNvSpPr txBox="1"/>
          <p:nvPr/>
        </p:nvSpPr>
        <p:spPr>
          <a:xfrm>
            <a:off x="5643154" y="1706880"/>
            <a:ext cx="534706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Precision measures how many selected items are relevant. Can be interpreted as measure of quality.</a:t>
            </a:r>
          </a:p>
          <a:p>
            <a:endParaRPr lang="en-US" dirty="0"/>
          </a:p>
          <a:p>
            <a:r>
              <a:rPr lang="en-US" dirty="0"/>
              <a:t>Recall measures how many relevant items are selected. Can be interpreted as measure of quantity.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917533-8752-4F63-A884-9DC832F31C06}"/>
              </a:ext>
            </a:extLst>
          </p:cNvPr>
          <p:cNvSpPr txBox="1"/>
          <p:nvPr/>
        </p:nvSpPr>
        <p:spPr>
          <a:xfrm>
            <a:off x="905465" y="3788229"/>
            <a:ext cx="1008475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High precision for class 0 suggests that the model can accurately predict the classification of 0. Further, having high recall also means that most of the relevant items were selected.</a:t>
            </a:r>
          </a:p>
          <a:p>
            <a:endParaRPr lang="en-US" dirty="0"/>
          </a:p>
          <a:p>
            <a:r>
              <a:rPr lang="en-US" dirty="0"/>
              <a:t>High precision for class 1 suggests that the model can accurately predict the classification of 1. However, having low recall means a small amount of the relevant items were selected. This can lead to high type-ii (False negative) errors.</a:t>
            </a:r>
          </a:p>
          <a:p>
            <a:endParaRPr lang="en-US" dirty="0"/>
          </a:p>
          <a:p>
            <a:r>
              <a:rPr lang="en-US" dirty="0"/>
              <a:t>Notice that the f-value for category 0 is much higher than category 1, suggesting that the model is much more accurate at classifying 0’s than 1’s.</a:t>
            </a:r>
          </a:p>
        </p:txBody>
      </p:sp>
    </p:spTree>
    <p:extLst>
      <p:ext uri="{BB962C8B-B14F-4D97-AF65-F5344CB8AC3E}">
        <p14:creationId xmlns:p14="http://schemas.microsoft.com/office/powerpoint/2010/main" val="4134578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9E246-DE00-4E97-A63B-610642FBA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evaluation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D313AEFD-F2C6-4F27-826E-F0DCEEAF413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05465" y="1985894"/>
          <a:ext cx="3403600" cy="13201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5200">
                  <a:extLst>
                    <a:ext uri="{9D8B030D-6E8A-4147-A177-3AD203B41FA5}">
                      <a16:colId xmlns:a16="http://schemas.microsoft.com/office/drawing/2014/main" val="140052078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19525825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82009726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31806887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332682893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Precision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Var(--jp-code-font-family)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recall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f1-score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support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6295039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0.87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0.99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0.93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1262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4511294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0.7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Var(--jp-code-font-family)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0.24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216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38209673"/>
                  </a:ext>
                </a:extLst>
              </a:tr>
              <a:tr h="168389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252068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Accuracy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0.87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1478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3832453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Macro avg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Var(--jp-code-font-family)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0.78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0.57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0.59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1478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416089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Weighted avg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Var(--jp-code-font-family)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0.85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0.87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0.83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1478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1414869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75C68B2-AC1D-4651-8083-47366E6944A5}"/>
              </a:ext>
            </a:extLst>
          </p:cNvPr>
          <p:cNvSpPr txBox="1"/>
          <p:nvPr/>
        </p:nvSpPr>
        <p:spPr>
          <a:xfrm>
            <a:off x="4613564" y="1935678"/>
            <a:ext cx="701831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Low recall for category 1 suggests that the model has a hard time correctly identifying the relevant entries within the dataset </a:t>
            </a:r>
          </a:p>
          <a:p>
            <a:endParaRPr lang="en-US" dirty="0"/>
          </a:p>
          <a:p>
            <a:r>
              <a:rPr lang="en-US" dirty="0"/>
              <a:t>High precision for category 1 suggests that the model is pretty good at identifying the relevant data points.</a:t>
            </a:r>
          </a:p>
          <a:p>
            <a:endParaRPr lang="en-US" dirty="0"/>
          </a:p>
          <a:p>
            <a:r>
              <a:rPr lang="en-US" dirty="0"/>
              <a:t>This imbalance is probably due to the highly skewed input data</a:t>
            </a:r>
          </a:p>
        </p:txBody>
      </p:sp>
      <p:pic>
        <p:nvPicPr>
          <p:cNvPr id="6" name="Picture 5" descr="Chart&#10;&#10;Description automatically generated">
            <a:extLst>
              <a:ext uri="{FF2B5EF4-FFF2-40B4-BE49-F238E27FC236}">
                <a16:creationId xmlns:a16="http://schemas.microsoft.com/office/drawing/2014/main" id="{57274A0E-B017-4447-9B9D-F21499E15A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328" y="4122280"/>
            <a:ext cx="3385737" cy="2164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244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D55C2-BCB5-4540-9861-CF75367D4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Evaluation</a:t>
            </a:r>
          </a:p>
        </p:txBody>
      </p:sp>
      <p:pic>
        <p:nvPicPr>
          <p:cNvPr id="5" name="Content Placeholder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7E2E5918-219C-4E5A-BF95-AC6EC125D6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24874" y="1645920"/>
            <a:ext cx="3591426" cy="2638793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02787D1-0700-4E94-B70A-8DC4F3D4A38D}"/>
              </a:ext>
            </a:extLst>
          </p:cNvPr>
          <p:cNvSpPr txBox="1"/>
          <p:nvPr/>
        </p:nvSpPr>
        <p:spPr>
          <a:xfrm>
            <a:off x="5181600" y="1645920"/>
            <a:ext cx="651401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High probability of true negative means high probability of classifying a driver as a loser, and being right.</a:t>
            </a:r>
          </a:p>
          <a:p>
            <a:endParaRPr lang="en-US" dirty="0"/>
          </a:p>
          <a:p>
            <a:r>
              <a:rPr lang="en-US" dirty="0"/>
              <a:t>Low probability of false positive means low probability of classifying a driver as a winner, and being wrong. </a:t>
            </a:r>
          </a:p>
          <a:p>
            <a:endParaRPr lang="en-US" dirty="0"/>
          </a:p>
          <a:p>
            <a:r>
              <a:rPr lang="en-US" dirty="0"/>
              <a:t>High probability of false negative means high probability of classifying a driver as losing, and being wrong.</a:t>
            </a:r>
          </a:p>
          <a:p>
            <a:endParaRPr lang="en-US" dirty="0"/>
          </a:p>
          <a:p>
            <a:r>
              <a:rPr lang="en-US" dirty="0"/>
              <a:t>Low probability of true positive means low probability of classifying a driver as winning, and being right.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2812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A2969-3A1A-4AE6-91E4-C88616A31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0CF3A-5A02-49EC-BBB9-CA1F2E5DD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Sensitivity (True Positive Rate) = Proportion of those who belong to the classification of 1, and is correctly classified by the model.</a:t>
            </a:r>
          </a:p>
          <a:p>
            <a:pPr marL="0" indent="0">
              <a:buNone/>
            </a:pPr>
            <a:r>
              <a:rPr lang="en-US" dirty="0"/>
              <a:t>TPR = TP / (TP + FN)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Specificity (True Negative Rate) = Proportion of those who belong to the classification of 0, and is correctly classified by the model. </a:t>
            </a:r>
          </a:p>
          <a:p>
            <a:pPr marL="0" indent="0">
              <a:buNone/>
            </a:pPr>
            <a:r>
              <a:rPr lang="en-US" dirty="0"/>
              <a:t>TNR = TN / (TN + FP)</a:t>
            </a:r>
          </a:p>
        </p:txBody>
      </p:sp>
    </p:spTree>
    <p:extLst>
      <p:ext uri="{BB962C8B-B14F-4D97-AF65-F5344CB8AC3E}">
        <p14:creationId xmlns:p14="http://schemas.microsoft.com/office/powerpoint/2010/main" val="1991445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A2969-3A1A-4AE6-91E4-C88616A31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0CF3A-5A02-49EC-BBB9-CA1F2E5DDD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9809" y="2049949"/>
            <a:ext cx="7356762" cy="4195481"/>
          </a:xfrm>
        </p:spPr>
        <p:txBody>
          <a:bodyPr>
            <a:normAutofit/>
          </a:bodyPr>
          <a:lstStyle/>
          <a:p>
            <a:r>
              <a:rPr lang="en-US" dirty="0"/>
              <a:t>Sensitivity (True Positive Rate) = Proportion of those who belong to the classification of 1, and is correctly classified by the model.</a:t>
            </a:r>
          </a:p>
          <a:p>
            <a:pPr marL="0" indent="0">
              <a:buNone/>
            </a:pPr>
            <a:r>
              <a:rPr lang="en-US" dirty="0"/>
              <a:t>TPR = TP / (TP + FN)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Specificity (True Negative Rate) = Proportion of those who belong to the classification of 0, and is correctly classified by the model. </a:t>
            </a:r>
          </a:p>
          <a:p>
            <a:pPr marL="0" indent="0">
              <a:buNone/>
            </a:pPr>
            <a:r>
              <a:rPr lang="en-US" dirty="0"/>
              <a:t>TNR = TN / (TN + FP)</a:t>
            </a:r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F2A639CD-2CEB-4760-A91C-750FD6B316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2049949"/>
            <a:ext cx="3659973" cy="158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09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A2969-3A1A-4AE6-91E4-C88616A31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0CF3A-5A02-49EC-BBB9-CA1F2E5DDD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9809" y="2049949"/>
            <a:ext cx="7356762" cy="4195481"/>
          </a:xfrm>
        </p:spPr>
        <p:txBody>
          <a:bodyPr>
            <a:normAutofit/>
          </a:bodyPr>
          <a:lstStyle/>
          <a:p>
            <a:r>
              <a:rPr lang="en-US" dirty="0"/>
              <a:t>Log Loss shows how close the prediction probability matches the actual value. </a:t>
            </a:r>
          </a:p>
          <a:p>
            <a:r>
              <a:rPr lang="en-US" dirty="0"/>
              <a:t>The more the predicted probability varies from the true value, the higher the log loss.</a:t>
            </a:r>
          </a:p>
          <a:p>
            <a:r>
              <a:rPr lang="en-US" dirty="0"/>
              <a:t>It is in our interest to minimize log loss</a:t>
            </a:r>
          </a:p>
          <a:p>
            <a:r>
              <a:rPr lang="en-US" dirty="0"/>
              <a:t>However, this cannot be done within the dataset at this point. It has to be done as ‘hyperparameter tuning’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E665FF-D346-4656-8CC8-B49EE87DC9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174" y="2049949"/>
            <a:ext cx="4048690" cy="44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195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00F2F-9372-4BEA-9CCD-468A5F1BB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561AB-0AC8-4D29-8F85-FC1F184DB4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3856" y="2052918"/>
            <a:ext cx="6225998" cy="4195481"/>
          </a:xfrm>
        </p:spPr>
        <p:txBody>
          <a:bodyPr/>
          <a:lstStyle/>
          <a:p>
            <a:r>
              <a:rPr lang="en-US" dirty="0"/>
              <a:t>To improve Log Loss, we iterate through a set of possible inverse regularization strength(C), and check the resultant accuracy.</a:t>
            </a:r>
          </a:p>
          <a:p>
            <a:r>
              <a:rPr lang="en-US" dirty="0"/>
              <a:t>We choose the C value with the highest corresponding Log Loss</a:t>
            </a:r>
          </a:p>
          <a:p>
            <a:r>
              <a:rPr lang="en-US" dirty="0"/>
              <a:t>A final model was chosen with C=0.000113</a:t>
            </a:r>
          </a:p>
          <a:p>
            <a:r>
              <a:rPr lang="en-US" dirty="0"/>
              <a:t>Then, a dummy classifier was made to compare against our model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FA805CA-3122-4DE9-ABBC-BBE9B4E6F8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900" y="2345474"/>
            <a:ext cx="2295845" cy="3620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D57A56D-97C5-45DA-A4D2-EEE0531928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955" y="4623700"/>
            <a:ext cx="2657846" cy="38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641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30800-8B73-451F-A380-41610AB57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65A08-AE9B-40AD-9DDD-951F66D44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Model “works”, but not great</a:t>
            </a:r>
          </a:p>
          <a:p>
            <a:r>
              <a:rPr lang="en-US" dirty="0"/>
              <a:t>Accuracy is similar to dummy model, but log loss is much lower.</a:t>
            </a:r>
          </a:p>
          <a:p>
            <a:r>
              <a:rPr lang="en-US" dirty="0"/>
              <a:t>Type I and Type II errors are likely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59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41C74-951F-4AB1-B2C4-172A679E9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exploration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2C229-85E0-4D77-92DB-E86F944801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Gather more data (</a:t>
            </a:r>
            <a:r>
              <a:rPr lang="en-US" dirty="0" err="1"/>
              <a:t>tyre</a:t>
            </a:r>
            <a:r>
              <a:rPr lang="en-US" dirty="0"/>
              <a:t> types, weather condition, wind speed, track &amp; ambient temp, budget)</a:t>
            </a:r>
          </a:p>
          <a:p>
            <a:r>
              <a:rPr lang="en-US" dirty="0"/>
              <a:t>Use a different classification model </a:t>
            </a:r>
          </a:p>
          <a:p>
            <a:r>
              <a:rPr lang="en-US" dirty="0"/>
              <a:t>Feature engineer more</a:t>
            </a:r>
          </a:p>
          <a:p>
            <a:r>
              <a:rPr lang="en-US" dirty="0"/>
              <a:t>Normalize, then include data from other seasons</a:t>
            </a:r>
          </a:p>
          <a:p>
            <a:r>
              <a:rPr lang="en-US" dirty="0"/>
              <a:t>Predict finishing position rather than win status. This should prevent the skewed data.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351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2724</TotalTime>
  <Words>1338</Words>
  <Application>Microsoft Office PowerPoint</Application>
  <PresentationFormat>Widescreen</PresentationFormat>
  <Paragraphs>204</Paragraphs>
  <Slides>24</Slides>
  <Notes>24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Century Gothic</vt:lpstr>
      <vt:lpstr>Var(--jp-code-font-family)</vt:lpstr>
      <vt:lpstr>Wingdings 3</vt:lpstr>
      <vt:lpstr>Ion</vt:lpstr>
      <vt:lpstr>F1 Analysis and regression</vt:lpstr>
      <vt:lpstr>Introduction</vt:lpstr>
      <vt:lpstr>Differences between F1 and other popular motorsports</vt:lpstr>
      <vt:lpstr>Data analysis &amp; Visualization</vt:lpstr>
      <vt:lpstr>Starting position vs end position</vt:lpstr>
      <vt:lpstr>Age vs Wins</vt:lpstr>
      <vt:lpstr>Wins vs Teams</vt:lpstr>
      <vt:lpstr>Probability of accident on Track</vt:lpstr>
      <vt:lpstr>Probability of accident on Track</vt:lpstr>
      <vt:lpstr>Regression</vt:lpstr>
      <vt:lpstr>Data preparation</vt:lpstr>
      <vt:lpstr>Linear Regression</vt:lpstr>
      <vt:lpstr>Logistic Regression</vt:lpstr>
      <vt:lpstr>Model</vt:lpstr>
      <vt:lpstr>Model</vt:lpstr>
      <vt:lpstr>Model evaluation </vt:lpstr>
      <vt:lpstr>Model evaluation </vt:lpstr>
      <vt:lpstr>Model Evaluation</vt:lpstr>
      <vt:lpstr>Model Evaluation</vt:lpstr>
      <vt:lpstr>Model Evaluation</vt:lpstr>
      <vt:lpstr>Model Evaluation</vt:lpstr>
      <vt:lpstr>Model Evaluation</vt:lpstr>
      <vt:lpstr>Conclusion</vt:lpstr>
      <vt:lpstr>Further exploration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F1 Analysis and regression model</dc:title>
  <dc:creator>what areyou</dc:creator>
  <cp:lastModifiedBy>what</cp:lastModifiedBy>
  <cp:revision>2</cp:revision>
  <dcterms:created xsi:type="dcterms:W3CDTF">2021-08-06T07:25:52Z</dcterms:created>
  <dcterms:modified xsi:type="dcterms:W3CDTF">2021-09-16T22:38:22Z</dcterms:modified>
</cp:coreProperties>
</file>